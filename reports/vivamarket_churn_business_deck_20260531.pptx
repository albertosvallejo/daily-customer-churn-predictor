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16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SHAP impact</c:v>
                </c:pt>
              </c:strCache>
            </c:strRef>
          </c:tx>
          <c:spPr>
            <a:solidFill>
              <a:srgbClr val="005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5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40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A0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B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Frequency</c:v>
                  </c:pt>
                  <c:pt idx="1">
                    <c:v>Monetary</c:v>
                  </c:pt>
                  <c:pt idx="2">
                    <c:v>Recency</c:v>
                  </c:pt>
                  <c:pt idx="3">
                    <c:v>Experience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29</c:v>
                </c:pt>
                <c:pt idx="2">
                  <c:v>22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901952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0" y="2560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Customer Churn Predictor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11480" y="1234440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Intelligence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11480" y="26974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VivaMarket Brasil  ·  End-to-end churn prediction, orchestration, measurement and governance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3127248"/>
            <a:ext cx="8321040" cy="2743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32461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3246120"/>
            <a:ext cx="54864" cy="141732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3858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AUC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4114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split · V2C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96312" y="32461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96312" y="3246120"/>
            <a:ext cx="54864" cy="141732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33472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2633472" y="3858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@ Top 10%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633472" y="4114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scored set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81144" y="32461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81144" y="3246120"/>
            <a:ext cx="54864" cy="141732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18304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3,346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718304" y="3858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Scored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18304" y="4114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active base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665976" y="324612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65976" y="3246120"/>
            <a:ext cx="54864" cy="141732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03136" y="33101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v4.0.0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803136" y="3858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Release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803136" y="4114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baseline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/ Demo Baseline  ·  Phase 4 Complete  ·  Phase 5 in Design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churn in a marketplace is harder to solve than in subscription businesses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"/>
            <a:ext cx="1188720" cy="374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2651760" cy="438912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9728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cancellation event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30352" y="1572768"/>
            <a:ext cx="23408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customers don't unsubscribe. Churn must be inferred from purchase silence — a fundamentally ambiguous signal that requires careful label definition.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100584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1005840"/>
            <a:ext cx="2651760" cy="438912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09728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02736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buyer dominance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64992" y="1572768"/>
            <a:ext cx="23408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customers bought once and never returned. Distinguishing structural non-buyers from retainable churners is the core analytical challenge of this project.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35040" y="100584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035040" y="1005840"/>
            <a:ext cx="2651760" cy="438912"/>
          </a:xfrm>
          <a:prstGeom prst="rect">
            <a:avLst/>
          </a:prstGeom>
          <a:solidFill>
            <a:srgbClr val="208040"/>
          </a:solidFill>
          <a:ln w="12700">
            <a:solidFill>
              <a:srgbClr val="20804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09728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37376" y="1097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 purchase cadence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199632" y="1572768"/>
            <a:ext cx="23408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 inactive means something different for a customer with 7 orders than for one with a single purchase. Generic inactivity rules systematically fail.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02920" y="4672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the most important next step is not model tuning — it is a business-first redesign of who counts as a retainable customer.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cycle: predict → prioritise → act → measure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"/>
            <a:ext cx="1188720" cy="374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058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005840"/>
            <a:ext cx="1938528" cy="438912"/>
          </a:xfrm>
          <a:prstGeom prst="rect">
            <a:avLst/>
          </a:prstGeom>
          <a:solidFill>
            <a:srgbClr val="104070"/>
          </a:solidFill>
          <a:ln w="12700">
            <a:solidFill>
              <a:srgbClr val="10407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09728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" y="1042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75488" y="1572768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XGBoost scoring of 3,346 customers. Churn probability ranked and assigned to tiers.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2606040"/>
            <a:ext cx="146304" cy="182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468880" y="10058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468880" y="1005840"/>
            <a:ext cx="1938528" cy="438912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097280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871216" y="109728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596896" y="1042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2596896" y="1572768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MEDIUM / LOW tiers, each with a different action and attribution window.</a:t>
            </a:r>
            <a:endParaRPr lang="en-US" sz="10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606040"/>
            <a:ext cx="146304" cy="18288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590288" y="10058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590288" y="1005840"/>
            <a:ext cx="1938528" cy="438912"/>
          </a:xfrm>
          <a:prstGeom prst="rect">
            <a:avLst/>
          </a:prstGeom>
          <a:solidFill>
            <a:srgbClr val="208040"/>
          </a:solidFill>
          <a:ln w="12700">
            <a:solidFill>
              <a:srgbClr val="208040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1097280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92624" y="109728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718304" y="1042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4718304" y="1572768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orchestration triggers OneSignal retention campaigns automatically per tier.</a:t>
            </a:r>
            <a:endParaRPr lang="en-US" sz="10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2606040"/>
            <a:ext cx="146304" cy="18288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711696" y="1005840"/>
            <a:ext cx="193852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6711696" y="1005840"/>
            <a:ext cx="1938528" cy="438912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1097280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14032" y="109728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6839712" y="1042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B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6839712" y="1572768"/>
            <a:ext cx="17007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group + conversion events measure retention lift vs. the untreated baseline.</a:t>
            </a:r>
            <a:endParaRPr lang="en-US" sz="1050" dirty="0"/>
          </a:p>
        </p:txBody>
      </p:sp>
      <p:sp>
        <p:nvSpPr>
          <p:cNvPr id="33" name="Shape 23"/>
          <p:cNvSpPr/>
          <p:nvPr/>
        </p:nvSpPr>
        <p:spPr>
          <a:xfrm>
            <a:off x="347472" y="4645152"/>
            <a:ext cx="8449056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484632" y="4672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Opt-out enforcement and governance gates are built into every dispatch cycle — no customer is contacted without eligibility checks.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&amp;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V2C artifact line — Phase 4 portfolio baseline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"/>
            <a:ext cx="1188720" cy="374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05840"/>
            <a:ext cx="1938528" cy="114300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" y="106070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47472" y="157276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AUC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7472" y="1801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split · V2C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68880" y="1005840"/>
            <a:ext cx="1938528" cy="1143000"/>
          </a:xfrm>
          <a:prstGeom prst="rect">
            <a:avLst/>
          </a:prstGeom>
          <a:solidFill>
            <a:srgbClr val="208040"/>
          </a:solidFill>
          <a:ln w="12700">
            <a:solidFill>
              <a:srgbClr val="208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68880" y="106070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468880" y="157276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Precision@Top 10%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468880" y="1801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scored set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90288" y="1005840"/>
            <a:ext cx="1938528" cy="1143000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90288" y="106070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590288" y="157276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Precision@Top 5%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90288" y="1801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scored set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711696" y="1005840"/>
            <a:ext cx="1938528" cy="1143000"/>
          </a:xfrm>
          <a:prstGeom prst="rect">
            <a:avLst/>
          </a:prstGeom>
          <a:solidFill>
            <a:srgbClr val="104070"/>
          </a:solidFill>
          <a:ln w="12700">
            <a:solidFill>
              <a:srgbClr val="104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11696" y="1060704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0.008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711696" y="1572768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Gap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711696" y="1801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CD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· mean gap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47472" y="2304288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029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Churn Driver Families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47472" y="2651760"/>
          <a:ext cx="4114800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4663440" y="2304288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828032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Decision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36592" y="2743200"/>
            <a:ext cx="3968496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852928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120640" y="279806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probabilities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120640" y="301752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Poorly calibrated — ranking preserved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736592" y="3337560"/>
            <a:ext cx="396849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447288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20640" y="339242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calibration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120640" y="361188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improves · ROC AUC stable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736592" y="3931920"/>
            <a:ext cx="3968496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041648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20640" y="398678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calibration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120640" y="42062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mean gap (0.008) · mild rank tradeoff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736592" y="45537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ranking-first baseline. Calibrated variants exist but the system is not oversold as a probability-led engine.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Retention Decisions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dispatch with governance, opt-out enforcement, and holdout measurement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"/>
            <a:ext cx="1188720" cy="374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2651760" cy="475488"/>
          </a:xfrm>
          <a:prstGeom prst="rect">
            <a:avLst/>
          </a:prstGeom>
          <a:solidFill>
            <a:srgbClr val="C01010"/>
          </a:solidFill>
          <a:ln w="12700">
            <a:solidFill>
              <a:srgbClr val="C010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33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3167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intervention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0352" y="1664208"/>
            <a:ext cx="36576" cy="292608"/>
          </a:xfrm>
          <a:prstGeom prst="rect">
            <a:avLst/>
          </a:prstGeom>
          <a:solidFill>
            <a:srgbClr val="C01010"/>
          </a:solidFill>
          <a:ln w="12700">
            <a:solidFill>
              <a:srgbClr val="C010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6642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top decile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0352" y="2286000"/>
            <a:ext cx="36576" cy="292608"/>
          </a:xfrm>
          <a:prstGeom prst="rect">
            <a:avLst/>
          </a:prstGeom>
          <a:solidFill>
            <a:srgbClr val="C01010"/>
          </a:solidFill>
          <a:ln w="12700">
            <a:solidFill>
              <a:srgbClr val="C010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direct outreach + coupon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0352" y="2907792"/>
            <a:ext cx="36576" cy="292608"/>
          </a:xfrm>
          <a:prstGeom prst="rect">
            <a:avLst/>
          </a:prstGeom>
          <a:solidFill>
            <a:srgbClr val="C01010"/>
          </a:solidFill>
          <a:ln w="12700">
            <a:solidFill>
              <a:srgbClr val="C010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window: 7 days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0352" y="3529584"/>
            <a:ext cx="36576" cy="292608"/>
          </a:xfrm>
          <a:prstGeom prst="rect">
            <a:avLst/>
          </a:prstGeom>
          <a:solidFill>
            <a:srgbClr val="C01010"/>
          </a:solidFill>
          <a:ln w="12700">
            <a:solidFill>
              <a:srgbClr val="C0101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5295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convert within the week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00400" y="100584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1005840"/>
            <a:ext cx="2651760" cy="475488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37560" y="1033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337560" y="13167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engagement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64992" y="1664208"/>
            <a:ext cx="36576" cy="292608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93008" y="16642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mid-range risk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364992" y="2286000"/>
            <a:ext cx="36576" cy="292608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93008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re-engagement campaign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64992" y="2907792"/>
            <a:ext cx="36576" cy="292608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93008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window: 14 days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364992" y="3529584"/>
            <a:ext cx="36576" cy="292608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93008" y="35295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restore purchase cadence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035040" y="100584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35040" y="1005840"/>
            <a:ext cx="2651760" cy="475488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72200" y="10332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172200" y="131673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Governance-gated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199632" y="1664208"/>
            <a:ext cx="36576" cy="292608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27648" y="16642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early warning signal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199632" y="2286000"/>
            <a:ext cx="36576" cy="292608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27648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requires explicit approval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99632" y="2907792"/>
            <a:ext cx="36576" cy="292608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27648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 business gate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199632" y="3529584"/>
            <a:ext cx="36576" cy="292608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27648" y="35295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efficiency-first testing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5090"/>
            </a:solidFill>
            <a:prstDash val="solid"/>
          </a:ln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09160"/>
            <a:ext cx="219456" cy="219456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68096" y="467258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cycle enforces: opt-out list · holdout exclusion · duplicate dispatch prevention · governance gate for LOW branch activation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Measurement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monitors itself — drift, fairness, and business impact tracked continuously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"/>
            <a:ext cx="1188720" cy="374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05840"/>
            <a:ext cx="406908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005840"/>
            <a:ext cx="4069080" cy="402336"/>
          </a:xfrm>
          <a:prstGeom prst="rect">
            <a:avLst/>
          </a:prstGeom>
          <a:solidFill>
            <a:srgbClr val="104070"/>
          </a:solidFill>
          <a:ln w="12700">
            <a:solidFill>
              <a:srgbClr val="1040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" y="10424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Drift Monitoring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536192"/>
            <a:ext cx="384048" cy="38404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57276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32688" y="15544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drift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" y="177393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 test on input feature distributions. Detects data quality degradation at source before it reaches the model.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542032"/>
            <a:ext cx="384048" cy="384048"/>
          </a:xfrm>
          <a:prstGeom prst="rect">
            <a:avLst/>
          </a:prstGeom>
          <a:solidFill>
            <a:srgbClr val="104070"/>
          </a:solidFill>
          <a:ln w="12700">
            <a:solidFill>
              <a:srgbClr val="10407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57860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2688" y="25603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distribution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32688" y="277977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percentile shift monitoring. Detects model decay before it impacts tier composition and dispatch volumes.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547872"/>
            <a:ext cx="384048" cy="384048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5844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32688" y="35661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composition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378561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MEDIUM / LOW ratio stability. Business-visible signal that triggers the D-2 retraining review process.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617720" y="10058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1005840"/>
            <a:ext cx="4160520" cy="402336"/>
          </a:xfrm>
          <a:prstGeom prst="rect">
            <a:avLst/>
          </a:prstGeom>
          <a:solidFill>
            <a:srgbClr val="208040"/>
          </a:solidFill>
          <a:ln w="12700">
            <a:solidFill>
              <a:srgbClr val="2080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10424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Group — Causal Measurement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17904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74336" y="14996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Per-customer deterministic holdout assignment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65376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74336" y="18470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events tracked within attribution window per tier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212848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974336" y="2194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lift = treated conversion rate vs. holdout baseline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17720" y="283464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17720" y="2834640"/>
            <a:ext cx="4160520" cy="402336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754880" y="28712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Trigger (D-2)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46704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956048" y="332841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drift: mean_score_delta exceeds defined threshold</a:t>
            </a:r>
            <a:endParaRPr lang="en-US" sz="9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675888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956048" y="365760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composition shift beyond acceptable range</a:t>
            </a:r>
            <a:endParaRPr lang="en-US" sz="95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005072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956048" y="398678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escalates for human review — not auto-retrained</a:t>
            </a:r>
            <a:endParaRPr lang="en-US" sz="95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334256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956048" y="431596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redesign (v4.0.0) documented as next evolution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 — Phase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Harness: from Human-in-the-Loop to Human-on-the-Loop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"/>
            <a:ext cx="1188720" cy="374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05840"/>
            <a:ext cx="8449056" cy="658368"/>
          </a:xfrm>
          <a:prstGeom prst="rect">
            <a:avLst/>
          </a:prstGeom>
          <a:solidFill>
            <a:srgbClr val="EEF3FA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4241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a bounded-autonomy agent replaces supervised human execution in this retention workflow, what changes — and by how much?"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7472" y="1847088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847088"/>
            <a:ext cx="1938528" cy="438912"/>
          </a:xfrm>
          <a:prstGeom prst="rect">
            <a:avLst/>
          </a:prstGeom>
          <a:solidFill>
            <a:srgbClr val="208040"/>
          </a:solidFill>
          <a:ln w="12700">
            <a:solidFill>
              <a:srgbClr val="20804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385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93852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88" y="235915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behaviour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75488" y="2670048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expected agent decision for every scenario before shadow mode begins. This is the ground truth.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3017520"/>
            <a:ext cx="146304" cy="182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468880" y="1847088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468880" y="1847088"/>
            <a:ext cx="1938528" cy="438912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9385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71216" y="193852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596896" y="235915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2596896" y="2670048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observes, does not act. ≥85% match vs. human decisions required before live activation.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3017520"/>
            <a:ext cx="146304" cy="18288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90288" y="1847088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590288" y="1847088"/>
            <a:ext cx="1938528" cy="438912"/>
          </a:xfrm>
          <a:prstGeom prst="rect">
            <a:avLst/>
          </a:prstGeom>
          <a:solidFill>
            <a:srgbClr val="104070"/>
          </a:solidFill>
          <a:ln w="12700">
            <a:solidFill>
              <a:srgbClr val="104070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1938528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92624" y="193852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H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718304" y="235915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harness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718304" y="2670048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executes routine decisions. Human receives structured escalations via Telegram and can override at any time.</a:t>
            </a:r>
            <a:endParaRPr lang="en-US" sz="10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3017520"/>
            <a:ext cx="146304" cy="18288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711696" y="1847088"/>
            <a:ext cx="193852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711696" y="1847088"/>
            <a:ext cx="1938528" cy="438912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1938528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114032" y="1938528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6839712" y="235915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6839712" y="2670048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(Phase 4) vs. autonomous (Phase 5): 4 dimensions measured — KPIs, speed, decision quality, cost.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347472" y="4645152"/>
            <a:ext cx="8449056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484632" y="4672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is not just a predecessor — it is the documented human baseline the agent will be compared against. That is what makes this experiment sectorally significant and publishable.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Honest Boundaries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is — and what it is not claiming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"/>
            <a:ext cx="1188720" cy="3749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05840"/>
            <a:ext cx="411480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005840"/>
            <a:ext cx="4114800" cy="420624"/>
          </a:xfrm>
          <a:prstGeom prst="rect">
            <a:avLst/>
          </a:prstGeom>
          <a:solidFill>
            <a:srgbClr val="208040"/>
          </a:solidFill>
          <a:ln w="12700">
            <a:solidFill>
              <a:srgbClr val="208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" y="1042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demonstrates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153619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end-to-end churn pipeline — raw data to automated decisions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825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029968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orchestration: API + n8n + OneSignal + Postgres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4203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2523744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drift monitoring, holdout measurement, opt-out enforcement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35808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017520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evidence with explicit ranking-vs-probability conclusion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29584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49808" y="3511296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redesign analysis documenting the next model evolution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23360"/>
            <a:ext cx="219456" cy="219456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9808" y="400507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Senior-level analytical honesty about evidence boundaries</a:t>
            </a:r>
            <a:endParaRPr lang="en-US" sz="1050" dirty="0"/>
          </a:p>
        </p:txBody>
      </p:sp>
      <p:sp>
        <p:nvSpPr>
          <p:cNvPr id="21" name="Shape 12"/>
          <p:cNvSpPr/>
          <p:nvPr/>
        </p:nvSpPr>
        <p:spPr>
          <a:xfrm>
            <a:off x="4663440" y="1005840"/>
            <a:ext cx="4133088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4663440" y="1005840"/>
            <a:ext cx="4133088" cy="420624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4800600" y="1042416"/>
            <a:ext cx="3904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boundaries — not claimed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1554480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65776" y="153619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campaign measurement uses simulated data, not live customer telemetry</a:t>
            </a:r>
            <a:endParaRPr lang="en-US" sz="10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2121408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065776" y="210312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claim of experimentally validated ROI on real customers</a:t>
            </a:r>
            <a:endParaRPr lang="en-US" sz="10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2688336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65776" y="26700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comparison is quasi-experimental sequential — not a simultaneous RCT</a:t>
            </a:r>
            <a:endParaRPr lang="en-US" sz="105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168" y="3255264"/>
            <a:ext cx="219456" cy="21945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065776" y="323697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redesign (v4.0.0) is documented but not yet implemented</a:t>
            </a:r>
            <a:endParaRPr lang="en-US" sz="105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3822192"/>
            <a:ext cx="219456" cy="219456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065776" y="380390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(Phase 5) is in design — not yet operational</a:t>
            </a:r>
            <a:endParaRPr lang="en-US" sz="1050" dirty="0"/>
          </a:p>
        </p:txBody>
      </p:sp>
      <p:sp>
        <p:nvSpPr>
          <p:cNvPr id="34" name="Shape 20"/>
          <p:cNvSpPr/>
          <p:nvPr/>
        </p:nvSpPr>
        <p:spPr>
          <a:xfrm>
            <a:off x="347472" y="4828032"/>
            <a:ext cx="8449056" cy="219456"/>
          </a:xfrm>
          <a:prstGeom prst="rect">
            <a:avLst/>
          </a:prstGeom>
          <a:solidFill>
            <a:srgbClr val="EEF3FA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5" name="Text 21"/>
          <p:cNvSpPr/>
          <p:nvPr/>
        </p:nvSpPr>
        <p:spPr>
          <a:xfrm>
            <a:off x="484632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rigour includes knowing what is not yet proven. This project is stronger precisely because it is explicit about its evidence boundaries.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"/>
            <a:ext cx="1901952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2560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Customer Churn Predictor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0B000"/>
          </a:solidFill>
          <a:ln w="12700">
            <a:solidFill>
              <a:srgbClr val="E0B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1430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VivaMarket Brasil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62763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· Spec-Driven · Production-Minded · Honestly Scoped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86000" y="2121408"/>
            <a:ext cx="4572000" cy="2743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304288"/>
            <a:ext cx="1755648" cy="960120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35915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NB01→09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27797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15768" y="2304288"/>
            <a:ext cx="1755648" cy="960120"/>
          </a:xfrm>
          <a:prstGeom prst="rect">
            <a:avLst/>
          </a:prstGeom>
          <a:solidFill>
            <a:srgbClr val="208040"/>
          </a:solidFill>
          <a:ln w="12700">
            <a:solidFill>
              <a:srgbClr val="208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15768" y="235915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715768" y="27797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baseline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54296" y="2304288"/>
            <a:ext cx="1755648" cy="960120"/>
          </a:xfrm>
          <a:prstGeom prst="rect">
            <a:avLst/>
          </a:prstGeom>
          <a:solidFill>
            <a:srgbClr val="104070"/>
          </a:solidFill>
          <a:ln w="12700">
            <a:solidFill>
              <a:srgbClr val="104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54296" y="235915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654296" y="27797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harness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592824" y="2304288"/>
            <a:ext cx="1755648" cy="960120"/>
          </a:xfrm>
          <a:prstGeom prst="rect">
            <a:avLst/>
          </a:prstGeom>
          <a:solidFill>
            <a:srgbClr val="60A060"/>
          </a:solidFill>
          <a:ln w="12700">
            <a:solidFill>
              <a:srgbClr val="60A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92824" y="235915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v4.0.0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592824" y="27797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release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11480" y="3794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/ Demo Baseline  ·  Phase 4 complete  ·  Honest about evidence boundaries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/ Demo Baseline  ·  Phase 4 complete  ·  Honest about evidence boundaries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5090"/>
          </a:solidFill>
          <a:ln w="12700">
            <a:solidFill>
              <a:srgbClr val="005090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5090"/>
                </a:solidFill>
                <a:latin typeface="Arial" pitchFamily="34" charset="0"/>
              </a:rPr>
              <a:t>Project Evolution</a:t>
            </a:r>
          </a:p>
        </p:txBody>
      </p:sp>
      <p:sp>
        <p:nvSpPr>
          <p:cNvPr id="4" name="Subtitle"/>
          <p:cNvSpPr/>
          <p:nvPr/>
        </p:nvSpPr>
        <p:spPr>
          <a:xfrm>
            <a:off x="411480" y="650000"/>
            <a:ext cx="83210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0" i="1" dirty="0">
                <a:solidFill>
                  <a:srgbClr val="666666"/>
                </a:solidFill>
                <a:latin typeface="Arial" pitchFamily="34" charset="0"/>
              </a:rPr>
              <a:t>From raw data to an autonomous retention agent — five phases, one coherent system</a:t>
            </a:r>
          </a:p>
        </p:txBody>
      </p:sp>
      <p:sp>
        <p:nvSpPr>
          <p:cNvPr id="5" name="HLine"/>
          <p:cNvSpPr/>
          <p:nvPr/>
        </p:nvSpPr>
        <p:spPr>
          <a:xfrm>
            <a:off x="457200" y="1180000"/>
            <a:ext cx="82296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10" name="Ph1Box"/>
          <p:cNvSpPr/>
          <p:nvPr/>
        </p:nvSpPr>
        <p:spPr>
          <a:xfrm>
            <a:off x="457200" y="1050000"/>
            <a:ext cx="1500000" cy="280000"/>
          </a:xfrm>
          <a:prstGeom prst="rect">
            <a:avLst/>
          </a:prstGeom>
          <a:solidFill>
            <a:srgbClr val="00509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Phase 1–2</a:t>
            </a:r>
          </a:p>
        </p:txBody>
      </p:sp>
      <p:sp>
        <p:nvSpPr>
          <p:cNvPr id="11" name="Ph3Box"/>
          <p:cNvSpPr/>
          <p:nvPr/>
        </p:nvSpPr>
        <p:spPr>
          <a:xfrm>
            <a:off x="2114400" y="1050000"/>
            <a:ext cx="1500000" cy="280000"/>
          </a:xfrm>
          <a:prstGeom prst="rect">
            <a:avLst/>
          </a:prstGeom>
          <a:solidFill>
            <a:srgbClr val="00509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Phase 3</a:t>
            </a:r>
          </a:p>
        </p:txBody>
      </p:sp>
      <p:sp>
        <p:nvSpPr>
          <p:cNvPr id="12" name="Ph4Box"/>
          <p:cNvSpPr/>
          <p:nvPr/>
        </p:nvSpPr>
        <p:spPr>
          <a:xfrm>
            <a:off x="3771600" y="1050000"/>
            <a:ext cx="1500000" cy="2800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Phase 4 ✔</a:t>
            </a:r>
          </a:p>
        </p:txBody>
      </p:sp>
      <p:sp>
        <p:nvSpPr>
          <p:cNvPr id="13" name="Ph5Box"/>
          <p:cNvSpPr/>
          <p:nvPr/>
        </p:nvSpPr>
        <p:spPr>
          <a:xfrm>
            <a:off x="5428800" y="1050000"/>
            <a:ext cx="1486800" cy="280000"/>
          </a:xfrm>
          <a:prstGeom prst="rect">
            <a:avLst/>
          </a:prstGeom>
          <a:solidFill>
            <a:srgbClr val="F9A825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Phase 5 → In Design</a:t>
            </a:r>
          </a:p>
        </p:txBody>
      </p:sp>
      <p:sp>
        <p:nvSpPr>
          <p:cNvPr id="20" name="Card1"/>
          <p:cNvSpPr/>
          <p:nvPr/>
        </p:nvSpPr>
        <p:spPr>
          <a:xfrm>
            <a:off x="457200" y="1480000"/>
            <a:ext cx="1500000" cy="3200000"/>
          </a:xfrm>
          <a:prstGeom prst="rect">
            <a:avLst/>
          </a:prstGeom>
          <a:solidFill>
            <a:srgbClr val="EBF3FB"/>
          </a:solidFill>
          <a:ln w="18000">
            <a:solidFill>
              <a:srgbClr val="005090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5090"/>
                </a:solidFill>
                <a:latin typeface="Arial" pitchFamily="34" charset="0"/>
              </a:rPr>
              <a:t>Build &amp; Orchestrate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Raw data to scored predictions. XGBoost model on real ecommerce data.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n8n orchestration: daily scoring, coupon dispatch, OneSignal notifications, Postgres logging.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5090"/>
                </a:solidFill>
                <a:latin typeface="Arial" pitchFamily="34" charset="0"/>
              </a:rPr>
              <a:t>Status: Complete</a:t>
            </a:r>
          </a:p>
        </p:txBody>
      </p:sp>
      <p:sp>
        <p:nvSpPr>
          <p:cNvPr id="21" name="Card2"/>
          <p:cNvSpPr/>
          <p:nvPr/>
        </p:nvSpPr>
        <p:spPr>
          <a:xfrm>
            <a:off x="2114400" y="1480000"/>
            <a:ext cx="1500000" cy="3200000"/>
          </a:xfrm>
          <a:prstGeom prst="rect">
            <a:avLst/>
          </a:prstGeom>
          <a:solidFill>
            <a:srgbClr val="EBF3FB"/>
          </a:solidFill>
          <a:ln w="18000">
            <a:solidFill>
              <a:srgbClr val="005090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5090"/>
                </a:solidFill>
                <a:latin typeface="Arial" pitchFamily="34" charset="0"/>
              </a:rPr>
              <a:t>Publication Hardening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API stability, artifact traceability, explainability outputs, branded HTML reporting.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Internal pilot baseline closed and validated end-to-end.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5090"/>
                </a:solidFill>
                <a:latin typeface="Arial" pitchFamily="34" charset="0"/>
              </a:rPr>
              <a:t>Status: Complete</a:t>
            </a:r>
          </a:p>
        </p:txBody>
      </p:sp>
      <p:sp>
        <p:nvSpPr>
          <p:cNvPr id="22" name="Card3"/>
          <p:cNvSpPr/>
          <p:nvPr/>
        </p:nvSpPr>
        <p:spPr>
          <a:xfrm>
            <a:off x="3771600" y="1480000"/>
            <a:ext cx="1500000" cy="3200000"/>
          </a:xfrm>
          <a:prstGeom prst="rect">
            <a:avLst/>
          </a:prstGeom>
          <a:solidFill>
            <a:srgbClr val="E8F5E9"/>
          </a:solidFill>
          <a:ln w="18000">
            <a:solidFill>
              <a:srgbClr val="2E7D32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</a:rPr>
              <a:t>Measure &amp; Govern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KPI measurement layer, drift monitoring, holdout groups, model governance, population redesign benchmark.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This is the documented human baseline this deck presents.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</a:rPr>
              <a:t>Status: Complete ✔</a:t>
            </a:r>
          </a:p>
        </p:txBody>
      </p:sp>
      <p:sp>
        <p:nvSpPr>
          <p:cNvPr id="23" name="Card4"/>
          <p:cNvSpPr/>
          <p:nvPr/>
        </p:nvSpPr>
        <p:spPr>
          <a:xfrm>
            <a:off x="5428800" y="1480000"/>
            <a:ext cx="1486800" cy="3200000"/>
          </a:xfrm>
          <a:prstGeom prst="rect">
            <a:avLst/>
          </a:prstGeom>
          <a:solidFill>
            <a:srgbClr val="FFFDE7"/>
          </a:solidFill>
          <a:ln w="18000">
            <a:solidFill>
              <a:srgbClr val="F9A825"/>
            </a:solidFill>
          </a:ln>
        </p:spPr>
        <p:txBody>
          <a:bodyPr wrap="square" lIns="114300" tIns="114300" rIns="114300" bIns="1143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</a:rPr>
              <a:t>Autonomous Agent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Replace human-supervised execution with a bounded-autonomy agent. Shadow mode first, then live harness.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0" dirty="0">
                <a:solidFill>
                  <a:srgbClr val="333333"/>
                </a:solidFill>
                <a:latin typeface="Arial" pitchFamily="34" charset="0"/>
              </a:rPr>
              <a:t>Phase 4 human baseline is the ground truth the agent will be benchmarked against.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</a:rPr>
              <a:t>Status: In Design</a:t>
            </a:r>
          </a:p>
        </p:txBody>
      </p:sp>
      <p:sp>
        <p:nvSpPr>
          <p:cNvPr id="30" name="YouAreHere"/>
          <p:cNvSpPr/>
          <p:nvPr/>
        </p:nvSpPr>
        <p:spPr>
          <a:xfrm>
            <a:off x="3771600" y="4760000"/>
            <a:ext cx="1500000" cy="2200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▲ This deck</a:t>
            </a:r>
          </a:p>
        </p:txBody>
      </p:sp>
      <p:sp>
        <p:nvSpPr>
          <p:cNvPr id="40" name="BottomBar"/>
          <p:cNvSpPr/>
          <p:nvPr/>
        </p:nvSpPr>
        <p:spPr>
          <a:xfrm>
            <a:off x="0" y="5016000"/>
            <a:ext cx="9144000" cy="127500"/>
          </a:xfrm>
          <a:prstGeom prst="rect">
            <a:avLst/>
          </a:prstGeom>
          <a:solidFill>
            <a:srgbClr val="DAA520"/>
          </a:solidFill>
          <a:ln w="0">
            <a:noFill/>
          </a:ln>
        </p:spPr>
        <p:txBody>
          <a:bodyPr wrap="square" lIns="228600" tIns="0" rIns="228600" bIns="0" rtlCol="0" anchor="ctr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  <a:latin typeface="Arial" pitchFamily="34" charset="0"/>
              </a:rPr>
              <a:t>Portfolio / Demo Baseline  ·  Phase 4 complete  ·  Phase 5 in Design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Customer Churn Predictor — VivaMarket Brasil</dc:title>
  <dc:subject>PptxGenJS Presentation</dc:subject>
  <dc:creator>PptxGenJS</dc:creator>
  <cp:lastModifiedBy>PptxGenJS</cp:lastModifiedBy>
  <cp:revision>1</cp:revision>
  <dcterms:created xsi:type="dcterms:W3CDTF">2026-06-04T23:51:22Z</dcterms:created>
  <dcterms:modified xsi:type="dcterms:W3CDTF">2026-06-04T23:51:22Z</dcterms:modified>
</cp:coreProperties>
</file>